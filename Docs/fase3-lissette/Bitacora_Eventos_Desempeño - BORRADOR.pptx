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61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141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8898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D9D6"/>
          </a:solidFill>
          <a:ln w="12700">
            <a:solidFill>
              <a:srgbClr val="08D9D6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11480" y="960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EVENTOS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5727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400" dirty="0">
                <a:solidFill>
                  <a:srgbClr val="08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DESEMPEÑO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8912" y="2072739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comportamientos observables · Insumo para evaluación formal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035040" y="493776"/>
            <a:ext cx="2834640" cy="2362125"/>
          </a:xfrm>
          <a:prstGeom prst="rect">
            <a:avLst/>
          </a:prstGeom>
          <a:solidFill>
            <a:srgbClr val="252A50"/>
          </a:solidFill>
          <a:ln w="12700">
            <a:solidFill>
              <a:srgbClr val="252A5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7" name="Shape 5"/>
          <p:cNvSpPr/>
          <p:nvPr/>
        </p:nvSpPr>
        <p:spPr>
          <a:xfrm>
            <a:off x="6035040" y="548640"/>
            <a:ext cx="2834640" cy="73152"/>
          </a:xfrm>
          <a:prstGeom prst="rect">
            <a:avLst/>
          </a:prstGeom>
          <a:solidFill>
            <a:srgbClr val="08D9D6"/>
          </a:solidFill>
          <a:ln w="12700">
            <a:solidFill>
              <a:srgbClr val="08D9D6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6035040" y="6583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8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COLABORADOR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72200" y="11155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72200" y="1316736"/>
            <a:ext cx="2560320" cy="256032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1" name="Text 9"/>
          <p:cNvSpPr/>
          <p:nvPr/>
        </p:nvSpPr>
        <p:spPr>
          <a:xfrm>
            <a:off x="6236208" y="13258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Sistema 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72200" y="170992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172200" y="1911096"/>
            <a:ext cx="2560320" cy="256032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4" name="Text 12"/>
          <p:cNvSpPr/>
          <p:nvPr/>
        </p:nvSpPr>
        <p:spPr>
          <a:xfrm>
            <a:off x="6236208" y="19202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Sistema 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72200" y="23042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INGRESO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72200" y="2505456"/>
            <a:ext cx="2560320" cy="256032"/>
          </a:xfrm>
          <a:prstGeom prst="rect">
            <a:avLst/>
          </a:prstGeom>
          <a:solidFill>
            <a:srgbClr val="1E2347"/>
          </a:solidFill>
          <a:ln w="12700">
            <a:solidFill>
              <a:srgbClr val="1E2347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7" name="Text 15"/>
          <p:cNvSpPr/>
          <p:nvPr/>
        </p:nvSpPr>
        <p:spPr>
          <a:xfrm>
            <a:off x="6236208" y="25146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Sistema 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328440"/>
            <a:ext cx="8075919" cy="274320"/>
          </a:xfrm>
          <a:prstGeom prst="rect">
            <a:avLst/>
          </a:prstGeom>
          <a:solidFill>
            <a:srgbClr val="252A50"/>
          </a:solidFill>
          <a:ln w="12700">
            <a:solidFill>
              <a:srgbClr val="08D9D6"/>
            </a:solidFill>
            <a:prstDash val="solid"/>
          </a:ln>
        </p:spPr>
        <p:txBody>
          <a:bodyPr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Seleccione el nombre del colaborador</a:t>
            </a:r>
            <a:endParaRPr lang="es-DO" sz="14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518E864-51A7-18EE-9A58-3413D04B538E}"/>
              </a:ext>
            </a:extLst>
          </p:cNvPr>
          <p:cNvGrpSpPr/>
          <p:nvPr/>
        </p:nvGrpSpPr>
        <p:grpSpPr>
          <a:xfrm>
            <a:off x="411481" y="3686587"/>
            <a:ext cx="8075919" cy="1061090"/>
            <a:chOff x="420920" y="2946637"/>
            <a:chExt cx="8075919" cy="106109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4740566-50FF-E778-C2E1-FC6D561F18DB}"/>
                </a:ext>
              </a:extLst>
            </p:cNvPr>
            <p:cNvGrpSpPr/>
            <p:nvPr/>
          </p:nvGrpSpPr>
          <p:grpSpPr>
            <a:xfrm>
              <a:off x="420920" y="2956167"/>
              <a:ext cx="5376081" cy="440682"/>
              <a:chOff x="483747" y="2752344"/>
              <a:chExt cx="5376081" cy="440682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EC348FE-F611-3791-4294-1DCCEEBE8F17}"/>
                  </a:ext>
                </a:extLst>
              </p:cNvPr>
              <p:cNvSpPr/>
              <p:nvPr/>
            </p:nvSpPr>
            <p:spPr>
              <a:xfrm>
                <a:off x="483747" y="2761488"/>
                <a:ext cx="1238865" cy="42416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Colaborador 1</a:t>
                </a:r>
                <a:endParaRPr lang="es-DO" sz="1200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1EE0A72-EF55-E559-269E-CD524CD82377}"/>
                  </a:ext>
                </a:extLst>
              </p:cNvPr>
              <p:cNvSpPr/>
              <p:nvPr/>
            </p:nvSpPr>
            <p:spPr>
              <a:xfrm>
                <a:off x="1876879" y="2762078"/>
                <a:ext cx="1238865" cy="42416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A6EDCAC5-5C83-EC27-8C82-D8EBA87AAAD3}"/>
                  </a:ext>
                </a:extLst>
              </p:cNvPr>
              <p:cNvSpPr/>
              <p:nvPr/>
            </p:nvSpPr>
            <p:spPr>
              <a:xfrm>
                <a:off x="4620963" y="2752344"/>
                <a:ext cx="1238865" cy="42416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DE08E7F-F893-E4B4-3536-EEB83503BF67}"/>
                  </a:ext>
                </a:extLst>
              </p:cNvPr>
              <p:cNvSpPr/>
              <p:nvPr/>
            </p:nvSpPr>
            <p:spPr>
              <a:xfrm>
                <a:off x="3270011" y="2768862"/>
                <a:ext cx="1238865" cy="42416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6F0B848-4335-9B41-3B4A-AFB6D5CF6AF0}"/>
                </a:ext>
              </a:extLst>
            </p:cNvPr>
            <p:cNvGrpSpPr/>
            <p:nvPr/>
          </p:nvGrpSpPr>
          <p:grpSpPr>
            <a:xfrm>
              <a:off x="420920" y="3567045"/>
              <a:ext cx="5376081" cy="440682"/>
              <a:chOff x="483747" y="2752344"/>
              <a:chExt cx="5376081" cy="440682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B9982489-8D7A-A6E5-32C9-06AFFB915B22}"/>
                  </a:ext>
                </a:extLst>
              </p:cNvPr>
              <p:cNvSpPr/>
              <p:nvPr/>
            </p:nvSpPr>
            <p:spPr>
              <a:xfrm>
                <a:off x="483747" y="2761488"/>
                <a:ext cx="1238865" cy="42416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23B10730-0F31-D8DB-5D5D-EA8CE78C3A9E}"/>
                  </a:ext>
                </a:extLst>
              </p:cNvPr>
              <p:cNvSpPr/>
              <p:nvPr/>
            </p:nvSpPr>
            <p:spPr>
              <a:xfrm>
                <a:off x="1876879" y="2762078"/>
                <a:ext cx="1238865" cy="42416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70D74396-2165-5FC9-E514-275431367F56}"/>
                  </a:ext>
                </a:extLst>
              </p:cNvPr>
              <p:cNvSpPr/>
              <p:nvPr/>
            </p:nvSpPr>
            <p:spPr>
              <a:xfrm>
                <a:off x="4620963" y="2752344"/>
                <a:ext cx="1238865" cy="42416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822B4B2-68DE-482D-435C-260A73AF1795}"/>
                  </a:ext>
                </a:extLst>
              </p:cNvPr>
              <p:cNvSpPr/>
              <p:nvPr/>
            </p:nvSpPr>
            <p:spPr>
              <a:xfrm>
                <a:off x="3270011" y="2768862"/>
                <a:ext cx="1238865" cy="424164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DO" dirty="0"/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393784-159E-E0BD-0647-EBE5569E0FD0}"/>
                </a:ext>
              </a:extLst>
            </p:cNvPr>
            <p:cNvSpPr/>
            <p:nvPr/>
          </p:nvSpPr>
          <p:spPr>
            <a:xfrm>
              <a:off x="5909088" y="2956167"/>
              <a:ext cx="1238865" cy="42416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B7F7FD5-0749-FE2C-270C-54CAA40B5127}"/>
                </a:ext>
              </a:extLst>
            </p:cNvPr>
            <p:cNvSpPr/>
            <p:nvPr/>
          </p:nvSpPr>
          <p:spPr>
            <a:xfrm>
              <a:off x="5909087" y="3550527"/>
              <a:ext cx="1238865" cy="42416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15200E6-C887-4D4E-42B2-C1CA1D8CE4C9}"/>
                </a:ext>
              </a:extLst>
            </p:cNvPr>
            <p:cNvSpPr/>
            <p:nvPr/>
          </p:nvSpPr>
          <p:spPr>
            <a:xfrm>
              <a:off x="7257974" y="2946637"/>
              <a:ext cx="1238865" cy="42416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6F9B0E7-A8CA-BF57-7FB3-C36FC3E7B7EE}"/>
                </a:ext>
              </a:extLst>
            </p:cNvPr>
            <p:cNvSpPr/>
            <p:nvPr/>
          </p:nvSpPr>
          <p:spPr>
            <a:xfrm>
              <a:off x="7257973" y="3550527"/>
              <a:ext cx="1238865" cy="42416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DO" dirty="0"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E06805BD-BE0E-2F2A-B551-428D39745D0D}"/>
              </a:ext>
            </a:extLst>
          </p:cNvPr>
          <p:cNvSpPr txBox="1"/>
          <p:nvPr/>
        </p:nvSpPr>
        <p:spPr>
          <a:xfrm>
            <a:off x="1804613" y="3778843"/>
            <a:ext cx="12388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Colaborador 2</a:t>
            </a:r>
            <a:endParaRPr lang="es-DO" sz="1200" dirty="0">
              <a:solidFill>
                <a:schemeClr val="bg1"/>
              </a:solidFill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E13CADDA-C368-0E24-2A32-068E5525EC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881" b="32232"/>
          <a:stretch>
            <a:fillRect/>
          </a:stretch>
        </p:blipFill>
        <p:spPr>
          <a:xfrm>
            <a:off x="487699" y="185257"/>
            <a:ext cx="1868945" cy="726766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26AA3D8F-D1B1-8E16-F129-06C44E6386C8}"/>
              </a:ext>
            </a:extLst>
          </p:cNvPr>
          <p:cNvSpPr/>
          <p:nvPr/>
        </p:nvSpPr>
        <p:spPr>
          <a:xfrm>
            <a:off x="6035039" y="2888937"/>
            <a:ext cx="2834639" cy="2743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IR A BITACORA</a:t>
            </a:r>
            <a:endParaRPr lang="es-DO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USAR ESTA BITÁCORA?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97480" cy="54864"/>
          </a:xfrm>
          <a:prstGeom prst="rect">
            <a:avLst/>
          </a:prstGeom>
          <a:solidFill>
            <a:srgbClr val="08D9D6"/>
          </a:solidFill>
          <a:ln w="12700">
            <a:solidFill>
              <a:srgbClr val="08D9D6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6" name="Shape 4"/>
          <p:cNvSpPr/>
          <p:nvPr/>
        </p:nvSpPr>
        <p:spPr>
          <a:xfrm>
            <a:off x="1394460" y="1097280"/>
            <a:ext cx="640080" cy="64008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17043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9019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del evento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359152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la fecha en que ocurrió el hecho, no cuando lo anotás.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024128"/>
            <a:ext cx="292608" cy="292608"/>
          </a:xfrm>
          <a:prstGeom prst="ellipse">
            <a:avLst/>
          </a:prstGeom>
          <a:solidFill>
            <a:srgbClr val="08D9D6"/>
          </a:solidFill>
          <a:ln w="12700">
            <a:solidFill>
              <a:srgbClr val="08D9D6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1" name="Text 8"/>
          <p:cNvSpPr/>
          <p:nvPr/>
        </p:nvSpPr>
        <p:spPr>
          <a:xfrm>
            <a:off x="457200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91840" y="9144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3" name="Shape 10"/>
          <p:cNvSpPr/>
          <p:nvPr/>
        </p:nvSpPr>
        <p:spPr>
          <a:xfrm>
            <a:off x="3291840" y="914400"/>
            <a:ext cx="2697480" cy="54864"/>
          </a:xfrm>
          <a:prstGeom prst="rect">
            <a:avLst/>
          </a:prstGeom>
          <a:solidFill>
            <a:srgbClr val="08D9D6"/>
          </a:solidFill>
          <a:ln w="12700">
            <a:solidFill>
              <a:srgbClr val="08D9D6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4" name="Shape 11"/>
          <p:cNvSpPr/>
          <p:nvPr/>
        </p:nvSpPr>
        <p:spPr>
          <a:xfrm>
            <a:off x="4320540" y="1097280"/>
            <a:ext cx="640080" cy="64008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117043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83280" y="19019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429000" y="2359152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el hecho observable: situación · acción · resultado. Evita juicios subjetivos.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383280" y="1024128"/>
            <a:ext cx="292608" cy="292608"/>
          </a:xfrm>
          <a:prstGeom prst="ellipse">
            <a:avLst/>
          </a:prstGeom>
          <a:solidFill>
            <a:srgbClr val="08D9D6"/>
          </a:solidFill>
          <a:ln w="12700">
            <a:solidFill>
              <a:srgbClr val="08D9D6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9" name="Text 15"/>
          <p:cNvSpPr/>
          <p:nvPr/>
        </p:nvSpPr>
        <p:spPr>
          <a:xfrm>
            <a:off x="3383280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217920" y="914400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21" name="Shape 17"/>
          <p:cNvSpPr/>
          <p:nvPr/>
        </p:nvSpPr>
        <p:spPr>
          <a:xfrm>
            <a:off x="6217920" y="914400"/>
            <a:ext cx="2697480" cy="54864"/>
          </a:xfrm>
          <a:prstGeom prst="rect">
            <a:avLst/>
          </a:prstGeom>
          <a:solidFill>
            <a:srgbClr val="08D9D6"/>
          </a:solidFill>
          <a:ln w="12700">
            <a:solidFill>
              <a:srgbClr val="08D9D6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2" name="Shape 18"/>
          <p:cNvSpPr/>
          <p:nvPr/>
        </p:nvSpPr>
        <p:spPr>
          <a:xfrm>
            <a:off x="7246620" y="1097280"/>
            <a:ext cx="640080" cy="640080"/>
          </a:xfrm>
          <a:prstGeom prst="ellipse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1170432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309360" y="19019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355080" y="2359152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cuál(es) competencia(s) organizacional(es) evidencia el evento registrado.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309360" y="1024128"/>
            <a:ext cx="292608" cy="292608"/>
          </a:xfrm>
          <a:prstGeom prst="ellipse">
            <a:avLst/>
          </a:prstGeom>
          <a:solidFill>
            <a:srgbClr val="08D9D6"/>
          </a:solidFill>
          <a:ln w="12700">
            <a:solidFill>
              <a:srgbClr val="08D9D6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7" name="Text 22"/>
          <p:cNvSpPr/>
          <p:nvPr/>
        </p:nvSpPr>
        <p:spPr>
          <a:xfrm>
            <a:off x="6309360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clave: registrar HECHOS, no interpretaciones. La bitácora es evidencia objetiva.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EVENTO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0" y="0"/>
            <a:ext cx="914400" cy="548640"/>
          </a:xfrm>
          <a:prstGeom prst="rect">
            <a:avLst/>
          </a:prstGeom>
          <a:solidFill>
            <a:srgbClr val="08D9D6"/>
          </a:solidFill>
          <a:ln w="12700">
            <a:solidFill>
              <a:srgbClr val="08D9D6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5" name="Text 3"/>
          <p:cNvSpPr/>
          <p:nvPr/>
        </p:nvSpPr>
        <p:spPr>
          <a:xfrm>
            <a:off x="8229600" y="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498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749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DEL EVENTO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20040" y="1024128"/>
            <a:ext cx="219456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9" name="Text 6"/>
          <p:cNvSpPr/>
          <p:nvPr/>
        </p:nvSpPr>
        <p:spPr>
          <a:xfrm>
            <a:off x="320040" y="10241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/ MM / AAAA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926080" y="749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EVENTO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926080" y="1024128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F4F6F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2" name="Text 9"/>
          <p:cNvSpPr/>
          <p:nvPr/>
        </p:nvSpPr>
        <p:spPr>
          <a:xfrm>
            <a:off x="2926080" y="1024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84375" y="1038824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F4F6F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4" name="Text 11"/>
          <p:cNvSpPr/>
          <p:nvPr/>
        </p:nvSpPr>
        <p:spPr>
          <a:xfrm>
            <a:off x="5767181" y="1039803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Incumplimiento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360595" y="105156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F4F6F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6" name="Text 13"/>
          <p:cNvSpPr/>
          <p:nvPr/>
        </p:nvSpPr>
        <p:spPr>
          <a:xfrm>
            <a:off x="4412775" y="105743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Iniciativa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260336" y="1024128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F4F6F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8" name="Text 15"/>
          <p:cNvSpPr/>
          <p:nvPr/>
        </p:nvSpPr>
        <p:spPr>
          <a:xfrm>
            <a:off x="7260336" y="10241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</a:t>
            </a:r>
            <a:endParaRPr lang="en-US" sz="9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600200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40080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EVENTO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320040" y="1901952"/>
            <a:ext cx="8503920" cy="1325880"/>
          </a:xfrm>
          <a:prstGeom prst="rect">
            <a:avLst/>
          </a:prstGeom>
          <a:solidFill>
            <a:srgbClr val="F4F6FB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2" name="Text 18"/>
          <p:cNvSpPr/>
          <p:nvPr/>
        </p:nvSpPr>
        <p:spPr>
          <a:xfrm>
            <a:off x="457200" y="1965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el hecho observable: ¿Qué ocurrió? ¿En qué contexto? ¿Cuál fue el resultado o impacto inmediato?</a:t>
            </a:r>
            <a:endParaRPr lang="en-US" sz="1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401568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080" y="3401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QUE IMPACTA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320040" y="37673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6" name="Text 21"/>
          <p:cNvSpPr/>
          <p:nvPr/>
        </p:nvSpPr>
        <p:spPr>
          <a:xfrm>
            <a:off x="539496" y="370332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al Socio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3227832" y="37673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8" name="Text 23"/>
          <p:cNvSpPr/>
          <p:nvPr/>
        </p:nvSpPr>
        <p:spPr>
          <a:xfrm>
            <a:off x="3447288" y="370332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a Resultados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6135624" y="376732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30" name="Text 25"/>
          <p:cNvSpPr/>
          <p:nvPr/>
        </p:nvSpPr>
        <p:spPr>
          <a:xfrm>
            <a:off x="6355080" y="370332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y adaptación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320040" y="411480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32" name="Text 27"/>
          <p:cNvSpPr/>
          <p:nvPr/>
        </p:nvSpPr>
        <p:spPr>
          <a:xfrm>
            <a:off x="539496" y="40507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Equipo, comunicación Interpersonal e Inteligencia Emocional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3227832" y="411480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34" name="Text 29"/>
          <p:cNvSpPr/>
          <p:nvPr/>
        </p:nvSpPr>
        <p:spPr>
          <a:xfrm>
            <a:off x="3447288" y="40507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Personal y Auto Aprendizaje</a:t>
            </a:r>
            <a:endParaRPr lang="en-US" sz="750" dirty="0"/>
          </a:p>
        </p:txBody>
      </p:sp>
      <p:sp>
        <p:nvSpPr>
          <p:cNvPr id="35" name="Shape 30"/>
          <p:cNvSpPr/>
          <p:nvPr/>
        </p:nvSpPr>
        <p:spPr>
          <a:xfrm>
            <a:off x="6135624" y="411480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36" name="Text 31"/>
          <p:cNvSpPr/>
          <p:nvPr/>
        </p:nvSpPr>
        <p:spPr>
          <a:xfrm>
            <a:off x="6355080" y="40507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a los Sistemas Institucionales / Regulaciones y Cultura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320040" y="446227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38" name="Text 33"/>
          <p:cNvSpPr/>
          <p:nvPr/>
        </p:nvSpPr>
        <p:spPr>
          <a:xfrm>
            <a:off x="539496" y="4398264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de comunicación y Presencia Profesional</a:t>
            </a:r>
            <a:endParaRPr lang="en-US" sz="750" dirty="0"/>
          </a:p>
        </p:txBody>
      </p:sp>
      <p:sp>
        <p:nvSpPr>
          <p:cNvPr id="39" name="Shape 34"/>
          <p:cNvSpPr/>
          <p:nvPr/>
        </p:nvSpPr>
        <p:spPr>
          <a:xfrm>
            <a:off x="3227832" y="446227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40" name="Text 35"/>
          <p:cNvSpPr/>
          <p:nvPr/>
        </p:nvSpPr>
        <p:spPr>
          <a:xfrm>
            <a:off x="3447288" y="4398264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 Decisiones, Coraje Gerencial y Estilo de colaboración</a:t>
            </a:r>
            <a:endParaRPr lang="en-US" sz="750" dirty="0"/>
          </a:p>
        </p:txBody>
      </p:sp>
      <p:sp>
        <p:nvSpPr>
          <p:cNvPr id="41" name="Shape 36"/>
          <p:cNvSpPr/>
          <p:nvPr/>
        </p:nvSpPr>
        <p:spPr>
          <a:xfrm>
            <a:off x="6135624" y="446227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42" name="Text 37"/>
          <p:cNvSpPr/>
          <p:nvPr/>
        </p:nvSpPr>
        <p:spPr>
          <a:xfrm>
            <a:off x="6355080" y="4398264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Supervisión, Desarrollo y motivación de Otros</a:t>
            </a:r>
            <a:endParaRPr lang="en-US" sz="750" dirty="0"/>
          </a:p>
        </p:txBody>
      </p:sp>
      <p:sp>
        <p:nvSpPr>
          <p:cNvPr id="43" name="Shape 38"/>
          <p:cNvSpPr/>
          <p:nvPr/>
        </p:nvSpPr>
        <p:spPr>
          <a:xfrm>
            <a:off x="320040" y="480974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44" name="Text 39"/>
          <p:cNvSpPr/>
          <p:nvPr/>
        </p:nvSpPr>
        <p:spPr>
          <a:xfrm>
            <a:off x="539496" y="474573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 Decisiones y solución Creativa de Problemas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3227832" y="480974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46" name="Text 41"/>
          <p:cNvSpPr/>
          <p:nvPr/>
        </p:nvSpPr>
        <p:spPr>
          <a:xfrm>
            <a:off x="3447288" y="474573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Pensamiento analítico y Rigor Intelectual</a:t>
            </a:r>
            <a:endParaRPr lang="en-US" sz="750" dirty="0"/>
          </a:p>
        </p:txBody>
      </p:sp>
      <p:sp>
        <p:nvSpPr>
          <p:cNvPr id="47" name="Shape 42"/>
          <p:cNvSpPr/>
          <p:nvPr/>
        </p:nvSpPr>
        <p:spPr>
          <a:xfrm>
            <a:off x="6135624" y="480974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48" name="Text 43"/>
          <p:cNvSpPr/>
          <p:nvPr/>
        </p:nvSpPr>
        <p:spPr>
          <a:xfrm>
            <a:off x="6355080" y="474573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del Negocio, Enfoque estratégico, Visión y Propósito</a:t>
            </a:r>
            <a:endParaRPr lang="en-US" sz="750" dirty="0"/>
          </a:p>
        </p:txBody>
      </p:sp>
      <p:sp>
        <p:nvSpPr>
          <p:cNvPr id="49" name="Shape 44"/>
          <p:cNvSpPr/>
          <p:nvPr/>
        </p:nvSpPr>
        <p:spPr>
          <a:xfrm>
            <a:off x="8458200" y="7498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50" name="Text 45"/>
          <p:cNvSpPr/>
          <p:nvPr/>
        </p:nvSpPr>
        <p:spPr>
          <a:xfrm>
            <a:off x="8458200" y="749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00" dirty="0"/>
          </a:p>
        </p:txBody>
      </p:sp>
      <p:sp>
        <p:nvSpPr>
          <p:cNvPr id="53" name="Shape 48"/>
          <p:cNvSpPr/>
          <p:nvPr/>
        </p:nvSpPr>
        <p:spPr>
          <a:xfrm>
            <a:off x="8493187" y="120700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54" name="Text 49"/>
          <p:cNvSpPr/>
          <p:nvPr/>
        </p:nvSpPr>
        <p:spPr>
          <a:xfrm>
            <a:off x="8506836" y="119819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250</Words>
  <Application>Microsoft Office PowerPoint</Application>
  <PresentationFormat>On-screen Show (16:9)</PresentationFormat>
  <Paragraphs>54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Lissette Cristina Abad de los Santos</cp:lastModifiedBy>
  <cp:revision>4</cp:revision>
  <dcterms:created xsi:type="dcterms:W3CDTF">2026-05-26T19:36:14Z</dcterms:created>
  <dcterms:modified xsi:type="dcterms:W3CDTF">2026-05-26T21:07:24Z</dcterms:modified>
</cp:coreProperties>
</file>